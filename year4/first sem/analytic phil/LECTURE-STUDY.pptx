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28" r:id="rId2"/>
    <p:sldId id="429" r:id="rId3"/>
    <p:sldId id="430" r:id="rId4"/>
    <p:sldId id="431" r:id="rId5"/>
    <p:sldId id="432" r:id="rId6"/>
    <p:sldId id="433" r:id="rId7"/>
    <p:sldId id="434" r:id="rId8"/>
    <p:sldId id="435" r:id="rId9"/>
    <p:sldId id="436" r:id="rId10"/>
    <p:sldId id="437" r:id="rId11"/>
    <p:sldId id="438" r:id="rId12"/>
    <p:sldId id="439" r:id="rId13"/>
    <p:sldId id="440" r:id="rId14"/>
  </p:sldIdLst>
  <p:sldSz cx="12192000" cy="6858000"/>
  <p:notesSz cx="9309100" cy="69548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4" autoAdjust="0"/>
    <p:restoredTop sz="94660"/>
  </p:normalViewPr>
  <p:slideViewPr>
    <p:cSldViewPr snapToGrid="0">
      <p:cViewPr varScale="1">
        <p:scale>
          <a:sx n="88" d="100"/>
          <a:sy n="88" d="100"/>
        </p:scale>
        <p:origin x="398" y="7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E6ECF2-40AE-4D7A-AE68-9FC61B13F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0272D9E-FF3F-4CE0-A2A4-E30180955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875C41A-33B8-488E-84A8-1EC3FE5B1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EDA9-616C-434C-81DF-C017C22EE9E8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E97CCBA-8E6A-49D6-B31D-81E24725E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7E5F67F-2014-4945-8629-8D02AE9A6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CFA4-45A9-45E7-AD8B-F975BA2EC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84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0841F4-217A-4211-B5B0-05AB0063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C56B666-947F-4474-B169-E80F42165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7C61A66-AE2B-4BD7-9EC2-801CBB4E5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EDA9-616C-434C-81DF-C017C22EE9E8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B6B32FB-4045-4C38-857B-CF11A255B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7AA2188-0320-48CB-9A78-552A71A67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CFA4-45A9-45E7-AD8B-F975BA2EC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6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4C83ED9-AB23-4AE6-8FD8-BF5FB96C0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D9CE108-0E00-47C1-B50D-EA415844F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578618D-5185-416E-B950-8C9F651D2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EDA9-616C-434C-81DF-C017C22EE9E8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DFAA3C9-E24B-461D-A807-D7F9D4ACC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2F02B3F-7A92-4C41-8BDB-56A3CB09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CFA4-45A9-45E7-AD8B-F975BA2EC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15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50D4B3A-235C-4024-8FC8-7D3576600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2FB4F0A-9065-4C52-99DA-A6F452DA85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FE5ACC4-8C25-486D-9FCB-19D1E83D2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8F93A16-4DA2-45DA-AAEA-D75D9C44C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EDA9-616C-434C-81DF-C017C22EE9E8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320571B-DFB7-40F6-A435-31F3D5F99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25D99D0-41CE-46AC-8354-0D1B81BDC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CFA4-45A9-45E7-AD8B-F975BA2EC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5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959726-F190-4825-81A0-4C80FE3F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4971253-93C4-496E-BC2D-C08332AE7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35850EF-D5D9-4473-9B25-5336580E7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C63204B5-ADFB-4980-8602-186F42FB46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AA53112C-1BA9-4528-B96C-19EA27D91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8DE4A462-A1B1-4CC3-ACEA-D3BB84CFD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EDA9-616C-434C-81DF-C017C22EE9E8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259685E9-F45E-4400-911B-406535CD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87671ABB-F7D2-4512-AA35-E60BEC5FD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CFA4-45A9-45E7-AD8B-F975BA2EC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8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271F39-3EFA-44FC-A24A-0A376E65D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46531BAF-2E3E-4A37-8BF2-2011E8330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EDA9-616C-434C-81DF-C017C22EE9E8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016754B-1C88-462C-9768-DA130E30C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5AEF004-DD52-43C0-9713-61CE38928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CFA4-45A9-45E7-AD8B-F975BA2EC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01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CAFEA617-91F9-4C51-B74A-99E257FE4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EDA9-616C-434C-81DF-C017C22EE9E8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311708D-BB18-45C6-91FE-05D5580A8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B84E435-3E4F-4D92-85F9-06659E618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CFA4-45A9-45E7-AD8B-F975BA2EC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56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95C1C1-670E-4744-8A5D-5D644119E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F732DA5-3292-4BAE-8EC0-F4E81E18C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5FF986E-311D-4835-8932-8E9A7ECB0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75E458A-8A0E-4A83-8F8D-F62CA27B5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EDA9-616C-434C-81DF-C017C22EE9E8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7720C4B-3241-4B6F-9A7B-80E37B2F1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ABC7FE0-F301-4B3A-96DC-ED0A5E07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CFA4-45A9-45E7-AD8B-F975BA2EC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117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DA61A4D-7030-45F8-B296-F1B39667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3CC6A420-5B69-4339-ADA9-542007AC14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C1B67CF-BBDD-4DCB-977F-AFDF79548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28E27DC-3473-4765-9F12-AF2C1C30C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EDA9-616C-434C-81DF-C017C22EE9E8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518409F-D869-4C09-BA2E-475BD1C74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81FF18A-AAE9-46A6-B7C7-0C5A9023F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CFA4-45A9-45E7-AD8B-F975BA2EC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210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3DCAF50-FEDE-4C7B-9B44-2FFF0B056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78AE1AE-0CB0-4122-A38B-9A9FE1527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E1981BB-A91D-4CE1-9090-1F0A3BB6D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EDA9-616C-434C-81DF-C017C22EE9E8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507C34C-443D-43D5-9D81-E129E6075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A3C9455-4996-46BE-ACC8-CF56F01C6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CFA4-45A9-45E7-AD8B-F975BA2EC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820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19F1BF7C-057E-401B-9382-0C0F8A7E6A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DB01D1A-886A-4458-A374-0F8DC0FC6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33D6209-71B2-4121-A7E3-67CDB6386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EDA9-616C-434C-81DF-C017C22EE9E8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3E00948-47AD-4789-954B-7E650940C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0B9337B-69DA-4AC4-AE1E-B6221E27D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CFA4-45A9-45E7-AD8B-F975BA2EC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12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7905FFE4-478B-4041-8682-A3B1C81E5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59013A7-5DF9-4828-A804-08F55D7A7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70E4A03-5340-4C4D-8548-F0E5719883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6EDA9-616C-434C-81DF-C017C22EE9E8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EC198BD-1F28-448C-8E7B-88B5419A6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3F1050A-55B9-459F-8D71-6894A7304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FCFA4-45A9-45E7-AD8B-F975BA2EC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76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CDECEC-9518-4EEF-B9EC-49A6328E9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87229"/>
            <a:ext cx="10515600" cy="65560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AF3F29-F366-4355-ADFC-9ACDB39CF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69" y="318977"/>
            <a:ext cx="11408735" cy="6262576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6000" b="1" dirty="0">
                <a:solidFill>
                  <a:srgbClr val="FF0000"/>
                </a:solidFill>
              </a:rPr>
              <a:t>Moritz </a:t>
            </a:r>
            <a:r>
              <a:rPr lang="en-US" sz="6000" b="1" dirty="0" err="1" smtClean="0">
                <a:solidFill>
                  <a:srgbClr val="FF0000"/>
                </a:solidFill>
              </a:rPr>
              <a:t>Schlick</a:t>
            </a:r>
            <a:r>
              <a:rPr lang="en-US" sz="6000" b="1" dirty="0" smtClean="0"/>
              <a:t>, </a:t>
            </a:r>
            <a:r>
              <a:rPr lang="en-US" sz="6000" dirty="0" smtClean="0"/>
              <a:t>for example, </a:t>
            </a:r>
            <a:r>
              <a:rPr lang="en-US" sz="6000" dirty="0"/>
              <a:t>insisted on the </a:t>
            </a:r>
            <a:r>
              <a:rPr lang="en-US" sz="6000" i="1" dirty="0">
                <a:solidFill>
                  <a:srgbClr val="00B050"/>
                </a:solidFill>
              </a:rPr>
              <a:t>narrow sense of verifiability</a:t>
            </a:r>
            <a:r>
              <a:rPr lang="en-US" sz="6000" dirty="0"/>
              <a:t>. </a:t>
            </a:r>
            <a:endParaRPr lang="en-US" sz="6000" dirty="0" smtClean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400" dirty="0" smtClean="0"/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6000" i="1" u="sng" dirty="0" smtClean="0"/>
              <a:t>A </a:t>
            </a:r>
            <a:r>
              <a:rPr lang="en-US" sz="6000" i="1" u="sng" dirty="0" smtClean="0">
                <a:solidFill>
                  <a:srgbClr val="00B050"/>
                </a:solidFill>
              </a:rPr>
              <a:t>narrow </a:t>
            </a:r>
            <a:r>
              <a:rPr lang="en-US" sz="6000" i="1" u="sng" dirty="0">
                <a:solidFill>
                  <a:srgbClr val="00B050"/>
                </a:solidFill>
              </a:rPr>
              <a:t>sense of </a:t>
            </a:r>
            <a:r>
              <a:rPr lang="en-US" sz="6000" i="1" u="sng" dirty="0" smtClean="0">
                <a:solidFill>
                  <a:srgbClr val="00B050"/>
                </a:solidFill>
              </a:rPr>
              <a:t>verifiability</a:t>
            </a:r>
            <a:r>
              <a:rPr lang="en-US" sz="6000" i="1" u="sng" dirty="0" smtClean="0"/>
              <a:t> </a:t>
            </a:r>
            <a:r>
              <a:rPr lang="en-US" sz="6000" i="1" dirty="0" smtClean="0"/>
              <a:t>is when </a:t>
            </a:r>
            <a:r>
              <a:rPr lang="en-US" sz="6000" u="sng" dirty="0" smtClean="0"/>
              <a:t>a statement becomes meaningful to an agent because</a:t>
            </a:r>
            <a:r>
              <a:rPr lang="en-US" sz="6000" dirty="0" smtClean="0"/>
              <a:t> it </a:t>
            </a:r>
            <a:r>
              <a:rPr lang="en-US" sz="6000" u="sng" dirty="0" smtClean="0"/>
              <a:t>expresses a </a:t>
            </a:r>
            <a:r>
              <a:rPr lang="en-US" sz="6000" b="1" u="sng" dirty="0" smtClean="0"/>
              <a:t>particular</a:t>
            </a:r>
            <a:r>
              <a:rPr lang="en-US" sz="6000" u="sng" dirty="0" smtClean="0"/>
              <a:t> </a:t>
            </a:r>
            <a:r>
              <a:rPr lang="en-US" sz="6000" u="sng" dirty="0"/>
              <a:t>state of </a:t>
            </a:r>
            <a:r>
              <a:rPr lang="en-US" sz="6000" u="sng" dirty="0" smtClean="0"/>
              <a:t>affair to the agent, </a:t>
            </a:r>
            <a:r>
              <a:rPr lang="en-US" sz="6000" dirty="0" smtClean="0"/>
              <a:t>who </a:t>
            </a:r>
            <a:r>
              <a:rPr lang="en-US" sz="6000" dirty="0"/>
              <a:t>understands the meaning of the words in it. </a:t>
            </a:r>
            <a:endParaRPr lang="en-US" sz="6000" dirty="0" smtClean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400" dirty="0" smtClean="0"/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6000" dirty="0" smtClean="0">
                <a:solidFill>
                  <a:srgbClr val="FF0000"/>
                </a:solidFill>
              </a:rPr>
              <a:t>What makes a proposition meaningful?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4000" dirty="0" smtClean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6000" dirty="0" smtClean="0"/>
              <a:t>A proposition becomes meaningful when what it expresses is </a:t>
            </a:r>
            <a:r>
              <a:rPr lang="en-US" sz="6000" u="sng" dirty="0" smtClean="0"/>
              <a:t>given </a:t>
            </a:r>
            <a:r>
              <a:rPr lang="en-US" sz="6000" u="sng" dirty="0"/>
              <a:t>in the proposition or statement</a:t>
            </a:r>
            <a:r>
              <a:rPr lang="en-US" sz="6000" dirty="0"/>
              <a:t>. </a:t>
            </a:r>
            <a:endParaRPr lang="en-US" sz="6000" dirty="0" smtClean="0"/>
          </a:p>
          <a:p>
            <a:pPr marL="0" indent="0" algn="just">
              <a:buNone/>
            </a:pPr>
            <a:endParaRPr lang="en-US" sz="3900" dirty="0"/>
          </a:p>
        </p:txBody>
      </p:sp>
    </p:spTree>
    <p:extLst>
      <p:ext uri="{BB962C8B-B14F-4D97-AF65-F5344CB8AC3E}">
        <p14:creationId xmlns:p14="http://schemas.microsoft.com/office/powerpoint/2010/main" val="25926784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CDECEC-9518-4EEF-B9EC-49A6328E9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87229"/>
            <a:ext cx="10515600" cy="65560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AF3F29-F366-4355-ADFC-9ACDB39CF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69" y="318977"/>
            <a:ext cx="11408735" cy="6262576"/>
          </a:xfrm>
        </p:spPr>
        <p:txBody>
          <a:bodyPr>
            <a:normAutofit fontScale="85000" lnSpcReduction="2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6000" dirty="0" smtClean="0"/>
              <a:t>That </a:t>
            </a:r>
            <a:r>
              <a:rPr lang="en-US" sz="6000" dirty="0"/>
              <a:t>means that the agent must </a:t>
            </a:r>
            <a:r>
              <a:rPr lang="en-US" sz="6000" u="sng" dirty="0"/>
              <a:t>conceive</a:t>
            </a:r>
            <a:r>
              <a:rPr lang="en-US" sz="6000" dirty="0"/>
              <a:t> and </a:t>
            </a:r>
            <a:r>
              <a:rPr lang="en-US" sz="6000" u="sng" dirty="0"/>
              <a:t>specify the conditions</a:t>
            </a:r>
            <a:r>
              <a:rPr lang="en-US" sz="6000" dirty="0"/>
              <a:t> that make the statement true </a:t>
            </a:r>
            <a:r>
              <a:rPr lang="en-US" sz="6000" dirty="0" smtClean="0"/>
              <a:t>or false. </a:t>
            </a:r>
          </a:p>
          <a:p>
            <a:pPr algn="just">
              <a:buFont typeface="Wingdings" pitchFamily="2" charset="2"/>
              <a:buChar char="§"/>
            </a:pPr>
            <a:r>
              <a:rPr lang="en-US" sz="6000" dirty="0" smtClean="0"/>
              <a:t>Thus</a:t>
            </a:r>
            <a:r>
              <a:rPr lang="en-US" sz="6000" dirty="0"/>
              <a:t>, verification is </a:t>
            </a:r>
            <a:r>
              <a:rPr lang="en-US" sz="6000" i="1" dirty="0">
                <a:solidFill>
                  <a:srgbClr val="FF0000"/>
                </a:solidFill>
              </a:rPr>
              <a:t>logically possible </a:t>
            </a:r>
            <a:r>
              <a:rPr lang="en-US" sz="6000" i="1" dirty="0"/>
              <a:t>(</a:t>
            </a:r>
            <a:r>
              <a:rPr lang="en-US" sz="6000" i="1" dirty="0" smtClean="0"/>
              <a:t>verifiable </a:t>
            </a:r>
            <a:r>
              <a:rPr lang="en-US" sz="6000" i="1" dirty="0"/>
              <a:t>in theory) </a:t>
            </a:r>
            <a:r>
              <a:rPr lang="en-US" sz="6000" dirty="0"/>
              <a:t>even though verifying the </a:t>
            </a:r>
            <a:r>
              <a:rPr lang="en-US" sz="6000" dirty="0" smtClean="0"/>
              <a:t>statement is </a:t>
            </a:r>
            <a:r>
              <a:rPr lang="en-US" sz="6000" i="1" dirty="0" smtClean="0">
                <a:solidFill>
                  <a:srgbClr val="FF0000"/>
                </a:solidFill>
              </a:rPr>
              <a:t>technically impossible</a:t>
            </a:r>
            <a:r>
              <a:rPr lang="en-US" sz="6000" dirty="0" smtClean="0"/>
              <a:t> </a:t>
            </a:r>
            <a:r>
              <a:rPr lang="en-US" sz="6000" dirty="0"/>
              <a:t>(verifiability in practice</a:t>
            </a:r>
            <a:r>
              <a:rPr lang="en-US" sz="6000" dirty="0" smtClean="0"/>
              <a:t>).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6000" dirty="0" smtClean="0"/>
              <a:t>For </a:t>
            </a:r>
            <a:r>
              <a:rPr lang="en-US" sz="6000" dirty="0"/>
              <a:t>example, verifying </a:t>
            </a:r>
            <a:r>
              <a:rPr lang="en-US" sz="6000" i="1" dirty="0"/>
              <a:t>that a </a:t>
            </a:r>
            <a:r>
              <a:rPr lang="en-US" sz="6000" i="1" dirty="0" smtClean="0"/>
              <a:t>centaur </a:t>
            </a:r>
            <a:r>
              <a:rPr lang="en-US" sz="6000" i="1" dirty="0"/>
              <a:t>runs faster than my car</a:t>
            </a:r>
            <a:r>
              <a:rPr lang="en-US" sz="6000" dirty="0"/>
              <a:t> is logically possible but technically impossible. </a:t>
            </a:r>
            <a:endParaRPr lang="en-US" sz="6000" dirty="0" smtClean="0"/>
          </a:p>
          <a:p>
            <a:pPr marL="0" indent="0" algn="just">
              <a:buNone/>
            </a:pPr>
            <a:endParaRPr lang="en-US" sz="3900" dirty="0"/>
          </a:p>
        </p:txBody>
      </p:sp>
    </p:spTree>
    <p:extLst>
      <p:ext uri="{BB962C8B-B14F-4D97-AF65-F5344CB8AC3E}">
        <p14:creationId xmlns:p14="http://schemas.microsoft.com/office/powerpoint/2010/main" val="30923873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CDECEC-9518-4EEF-B9EC-49A6328E9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87229"/>
            <a:ext cx="10515600" cy="65560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AF3F29-F366-4355-ADFC-9ACDB39CF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69" y="318977"/>
            <a:ext cx="11408735" cy="626257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900" b="1" dirty="0" smtClean="0"/>
              <a:t>A CENTAUR</a:t>
            </a:r>
            <a:endParaRPr lang="en-US" sz="3900" b="1" dirty="0"/>
          </a:p>
        </p:txBody>
      </p:sp>
      <p:pic>
        <p:nvPicPr>
          <p:cNvPr id="1026" name="Picture 2" descr="3D rendering of a centaur half man, half horse mythical creature standing with arms folded isolated on a white background. 3D illustration of a centaur half man, half horse mythical creature standing with arms folded isolated on a white background. Centaur Stock Phot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35" t="9646" r="18652"/>
          <a:stretch/>
        </p:blipFill>
        <p:spPr bwMode="auto">
          <a:xfrm>
            <a:off x="3044536" y="1205345"/>
            <a:ext cx="5455228" cy="527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14041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CDECEC-9518-4EEF-B9EC-49A6328E9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87229"/>
            <a:ext cx="10515600" cy="65560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AF3F29-F366-4355-ADFC-9ACDB39CF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69" y="318977"/>
            <a:ext cx="11408735" cy="6262576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6000" dirty="0"/>
              <a:t>Other thinkers abandoned Moritz’s narrow sense of verifiability due to its restrictiveness and endorsed a wider sense of verifiability</a:t>
            </a:r>
            <a:r>
              <a:rPr lang="en-US" sz="6000" dirty="0" smtClean="0"/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6000" dirty="0" smtClean="0">
                <a:solidFill>
                  <a:srgbClr val="00B050"/>
                </a:solidFill>
              </a:rPr>
              <a:t>The </a:t>
            </a:r>
            <a:r>
              <a:rPr lang="en-US" sz="6000" dirty="0">
                <a:solidFill>
                  <a:srgbClr val="00B050"/>
                </a:solidFill>
              </a:rPr>
              <a:t>wider sense of verifiability </a:t>
            </a:r>
            <a:r>
              <a:rPr lang="en-US" sz="6000" dirty="0"/>
              <a:t>encompasses direct (in practice) and indirect verifiability (in theory). </a:t>
            </a:r>
            <a:endParaRPr lang="en-US" sz="6000" dirty="0" smtClean="0"/>
          </a:p>
          <a:p>
            <a:pPr marL="0" indent="0" algn="just">
              <a:buNone/>
            </a:pP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8564473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CDECEC-9518-4EEF-B9EC-49A6328E9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87229"/>
            <a:ext cx="10515600" cy="65560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AF3F29-F366-4355-ADFC-9ACDB39CF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69" y="318977"/>
            <a:ext cx="11408735" cy="6262576"/>
          </a:xfrm>
        </p:spPr>
        <p:txBody>
          <a:bodyPr>
            <a:noAutofit/>
          </a:bodyPr>
          <a:lstStyle/>
          <a:p>
            <a:pPr algn="just">
              <a:lnSpc>
                <a:spcPct val="7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4400" spc="-170" dirty="0" smtClean="0"/>
              <a:t>Both </a:t>
            </a:r>
            <a:r>
              <a:rPr lang="en-US" sz="4400" spc="-170" dirty="0"/>
              <a:t>senses of verifiability became prominent because of other types of sentences </a:t>
            </a:r>
            <a:r>
              <a:rPr lang="en-US" sz="4400" spc="-170" dirty="0" smtClean="0"/>
              <a:t>that </a:t>
            </a:r>
            <a:r>
              <a:rPr lang="en-US" sz="4400" spc="-170" dirty="0"/>
              <a:t>are meaningful and essential in our daily life though not directly verifiable. </a:t>
            </a:r>
            <a:endParaRPr lang="en-US" sz="4400" spc="-170" dirty="0" smtClean="0"/>
          </a:p>
          <a:p>
            <a:pPr marL="0" indent="0" algn="just">
              <a:lnSpc>
                <a:spcPct val="70000"/>
              </a:lnSpc>
              <a:spcBef>
                <a:spcPts val="0"/>
              </a:spcBef>
              <a:buNone/>
            </a:pPr>
            <a:endParaRPr lang="en-US" sz="2400" spc="-170" dirty="0" smtClean="0"/>
          </a:p>
          <a:p>
            <a:pPr algn="just">
              <a:lnSpc>
                <a:spcPct val="7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4400" spc="-170" dirty="0" smtClean="0"/>
              <a:t>Some of these sentences include: general </a:t>
            </a:r>
            <a:r>
              <a:rPr lang="en-US" sz="4400" spc="-170" dirty="0"/>
              <a:t>statements, historical statements about an inaccessible past, statements that are not practically verifiable, etc</a:t>
            </a:r>
            <a:r>
              <a:rPr lang="en-US" sz="4400" spc="-170" dirty="0" smtClean="0"/>
              <a:t>.</a:t>
            </a:r>
          </a:p>
          <a:p>
            <a:pPr marL="0" indent="0" algn="just">
              <a:lnSpc>
                <a:spcPct val="70000"/>
              </a:lnSpc>
              <a:spcBef>
                <a:spcPts val="0"/>
              </a:spcBef>
              <a:buNone/>
            </a:pPr>
            <a:endParaRPr lang="en-US" sz="2400" spc="-170" dirty="0"/>
          </a:p>
          <a:p>
            <a:pPr algn="just">
              <a:lnSpc>
                <a:spcPct val="7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4400" spc="-170" dirty="0" smtClean="0">
                <a:solidFill>
                  <a:srgbClr val="C00000"/>
                </a:solidFill>
              </a:rPr>
              <a:t>For </a:t>
            </a:r>
            <a:r>
              <a:rPr lang="en-US" sz="4400" spc="-170" dirty="0">
                <a:solidFill>
                  <a:srgbClr val="C00000"/>
                </a:solidFill>
              </a:rPr>
              <a:t>instance, if we do not nip the menace of the Fulani Herders in the bud now, there will be the extermination of many tribes in Nigeria in the future</a:t>
            </a:r>
            <a:r>
              <a:rPr lang="en-US" sz="4400" spc="-170" dirty="0"/>
              <a:t>.  </a:t>
            </a:r>
          </a:p>
          <a:p>
            <a:pPr marL="0" indent="0" algn="just">
              <a:lnSpc>
                <a:spcPct val="70000"/>
              </a:lnSpc>
              <a:spcBef>
                <a:spcPts val="0"/>
              </a:spcBef>
              <a:buNone/>
            </a:pPr>
            <a:endParaRPr lang="en-US" sz="4000" spc="-170" dirty="0"/>
          </a:p>
        </p:txBody>
      </p:sp>
    </p:spTree>
    <p:extLst>
      <p:ext uri="{BB962C8B-B14F-4D97-AF65-F5344CB8AC3E}">
        <p14:creationId xmlns:p14="http://schemas.microsoft.com/office/powerpoint/2010/main" val="41939031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CDECEC-9518-4EEF-B9EC-49A6328E9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87229"/>
            <a:ext cx="10515600" cy="65560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AF3F29-F366-4355-ADFC-9ACDB39CF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69" y="318977"/>
            <a:ext cx="11408735" cy="6262576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4000" b="1" dirty="0">
                <a:solidFill>
                  <a:srgbClr val="FF0000"/>
                </a:solidFill>
              </a:rPr>
              <a:t>Rudolf </a:t>
            </a:r>
            <a:r>
              <a:rPr lang="en-US" sz="4000" b="1" dirty="0" err="1">
                <a:solidFill>
                  <a:srgbClr val="FF0000"/>
                </a:solidFill>
              </a:rPr>
              <a:t>Carnap</a:t>
            </a:r>
            <a:r>
              <a:rPr lang="en-US" sz="4000" dirty="0"/>
              <a:t> gave a transformed version and upgraded perspective </a:t>
            </a:r>
            <a:r>
              <a:rPr lang="en-US" sz="4000" dirty="0" smtClean="0"/>
              <a:t>on </a:t>
            </a:r>
            <a:r>
              <a:rPr lang="en-US" sz="4000" dirty="0"/>
              <a:t>logical positivism. </a:t>
            </a:r>
            <a:endParaRPr lang="en-US" sz="4000" dirty="0" smtClean="0"/>
          </a:p>
          <a:p>
            <a:pPr algn="just">
              <a:buFont typeface="Wingdings" pitchFamily="2" charset="2"/>
              <a:buChar char="§"/>
            </a:pPr>
            <a:r>
              <a:rPr lang="en-US" sz="4000" dirty="0" smtClean="0"/>
              <a:t>He, like other logical positivist like Otto </a:t>
            </a:r>
            <a:r>
              <a:rPr lang="en-US" sz="4000" dirty="0" err="1" smtClean="0"/>
              <a:t>Neurath</a:t>
            </a:r>
            <a:r>
              <a:rPr lang="en-US" sz="4000" dirty="0" smtClean="0"/>
              <a:t>, </a:t>
            </a:r>
            <a:r>
              <a:rPr lang="en-US" sz="4000" u="sng" dirty="0" smtClean="0"/>
              <a:t>emphasized analysis of language to promote the anti-metaphysical </a:t>
            </a:r>
            <a:r>
              <a:rPr lang="en-US" sz="4000" u="sng" dirty="0"/>
              <a:t>claim of the earlier </a:t>
            </a:r>
            <a:r>
              <a:rPr lang="en-US" sz="4000" u="sng" dirty="0" smtClean="0"/>
              <a:t>positivist</a:t>
            </a:r>
            <a:r>
              <a:rPr lang="en-US" sz="4000" dirty="0" smtClean="0"/>
              <a:t>. </a:t>
            </a:r>
          </a:p>
          <a:p>
            <a:pPr algn="just">
              <a:buFont typeface="Wingdings" pitchFamily="2" charset="2"/>
              <a:buChar char="§"/>
            </a:pPr>
            <a:r>
              <a:rPr lang="en-US" sz="4000" dirty="0" smtClean="0"/>
              <a:t>However, he “insisted on </a:t>
            </a:r>
            <a:r>
              <a:rPr lang="en-US" sz="4000" u="sng" dirty="0" smtClean="0"/>
              <a:t>making extensive use of the tools of modern logic</a:t>
            </a:r>
            <a:r>
              <a:rPr lang="en-US" sz="4000" dirty="0" smtClean="0"/>
              <a:t> (</a:t>
            </a:r>
            <a:r>
              <a:rPr lang="en-US" sz="4000" dirty="0" smtClean="0">
                <a:solidFill>
                  <a:srgbClr val="FF0000"/>
                </a:solidFill>
              </a:rPr>
              <a:t>i.e., devise a purified logical language to be used as sharp analytical tool like that of </a:t>
            </a:r>
            <a:r>
              <a:rPr lang="en-US" sz="4000" dirty="0" err="1" smtClean="0">
                <a:solidFill>
                  <a:srgbClr val="FF0000"/>
                </a:solidFill>
              </a:rPr>
              <a:t>Frege</a:t>
            </a:r>
            <a:r>
              <a:rPr lang="en-US" sz="4000" dirty="0">
                <a:solidFill>
                  <a:srgbClr val="FF0000"/>
                </a:solidFill>
              </a:rPr>
              <a:t>)</a:t>
            </a:r>
            <a:r>
              <a:rPr lang="en-US" sz="4000" u="sng" dirty="0" smtClean="0"/>
              <a:t>to build new linguistic frameworks defined by explicit rules</a:t>
            </a:r>
            <a:r>
              <a:rPr lang="en-US" sz="4000" dirty="0" smtClean="0"/>
              <a:t>” (Lee 2011: 86).</a:t>
            </a:r>
          </a:p>
          <a:p>
            <a:pPr marL="0" indent="0" algn="just">
              <a:buNone/>
            </a:pPr>
            <a:endParaRPr lang="en-US" sz="3900" dirty="0"/>
          </a:p>
        </p:txBody>
      </p:sp>
    </p:spTree>
    <p:extLst>
      <p:ext uri="{BB962C8B-B14F-4D97-AF65-F5344CB8AC3E}">
        <p14:creationId xmlns:p14="http://schemas.microsoft.com/office/powerpoint/2010/main" val="19503382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CDECEC-9518-4EEF-B9EC-49A6328E9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87229"/>
            <a:ext cx="10515600" cy="65560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AF3F29-F366-4355-ADFC-9ACDB39CF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69" y="318977"/>
            <a:ext cx="11408735" cy="6262576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4000" dirty="0" smtClean="0"/>
              <a:t>Such rules (his meta-language)  determine </a:t>
            </a:r>
            <a:r>
              <a:rPr lang="en-US" sz="4000" dirty="0"/>
              <a:t>how sentences </a:t>
            </a:r>
            <a:r>
              <a:rPr lang="en-US" sz="4000" dirty="0" smtClean="0"/>
              <a:t>of </a:t>
            </a:r>
            <a:r>
              <a:rPr lang="en-US" sz="4000" dirty="0"/>
              <a:t>language can be </a:t>
            </a:r>
            <a:r>
              <a:rPr lang="en-US" sz="4000" dirty="0" smtClean="0"/>
              <a:t>constructed, </a:t>
            </a:r>
            <a:r>
              <a:rPr lang="en-US" sz="4000" dirty="0"/>
              <a:t>like </a:t>
            </a:r>
            <a:r>
              <a:rPr lang="en-US" sz="4000" dirty="0" smtClean="0"/>
              <a:t>in grammatical </a:t>
            </a:r>
            <a:r>
              <a:rPr lang="en-US" sz="4000" dirty="0"/>
              <a:t>rules </a:t>
            </a:r>
            <a:r>
              <a:rPr lang="en-US" sz="4000" dirty="0" smtClean="0"/>
              <a:t>(</a:t>
            </a:r>
            <a:r>
              <a:rPr lang="en-US" sz="4000" dirty="0" smtClean="0">
                <a:solidFill>
                  <a:srgbClr val="FF0000"/>
                </a:solidFill>
              </a:rPr>
              <a:t>formation rule</a:t>
            </a:r>
            <a:r>
              <a:rPr lang="en-US" sz="4000" dirty="0" smtClean="0"/>
              <a:t>) and </a:t>
            </a:r>
            <a:r>
              <a:rPr lang="en-US" sz="4000" dirty="0"/>
              <a:t>how </a:t>
            </a:r>
            <a:r>
              <a:rPr lang="en-US" sz="4000" dirty="0" smtClean="0"/>
              <a:t>we </a:t>
            </a:r>
            <a:r>
              <a:rPr lang="en-US" sz="4000" i="1" dirty="0" smtClean="0"/>
              <a:t>infer</a:t>
            </a:r>
            <a:r>
              <a:rPr lang="en-US" sz="4000" dirty="0" smtClean="0"/>
              <a:t> other sentences from given sentences  (</a:t>
            </a:r>
            <a:r>
              <a:rPr lang="en-US" sz="4000" dirty="0" smtClean="0">
                <a:solidFill>
                  <a:srgbClr val="FF0000"/>
                </a:solidFill>
              </a:rPr>
              <a:t>transformation rule</a:t>
            </a:r>
            <a:r>
              <a:rPr lang="en-US" sz="4000" dirty="0" smtClean="0"/>
              <a:t>). </a:t>
            </a:r>
          </a:p>
          <a:p>
            <a:pPr algn="just">
              <a:buFont typeface="Wingdings" pitchFamily="2" charset="2"/>
              <a:buChar char="§"/>
            </a:pPr>
            <a:r>
              <a:rPr lang="en-US" sz="4000" dirty="0" smtClean="0"/>
              <a:t>So, everyone, he said is at liberty to build his own logic and system or forms of language (</a:t>
            </a:r>
            <a:r>
              <a:rPr lang="en-US" sz="4000" dirty="0" err="1" smtClean="0"/>
              <a:t>explicandum</a:t>
            </a:r>
            <a:r>
              <a:rPr lang="en-US" sz="4000" dirty="0" smtClean="0"/>
              <a:t>) so long as it (i.e., the system formed) facilitates clarity (</a:t>
            </a:r>
            <a:r>
              <a:rPr lang="en-US" sz="4000" dirty="0" err="1" smtClean="0"/>
              <a:t>explicatum</a:t>
            </a:r>
            <a:r>
              <a:rPr lang="en-US" sz="4000" dirty="0" smtClean="0"/>
              <a:t> or explication or language schemas).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4000" dirty="0" smtClean="0"/>
              <a:t>Given </a:t>
            </a:r>
            <a:r>
              <a:rPr lang="en-US" sz="4000" dirty="0"/>
              <a:t>this, he distinguished between </a:t>
            </a:r>
            <a:r>
              <a:rPr lang="en-US" sz="4000" i="1" dirty="0">
                <a:solidFill>
                  <a:srgbClr val="00B050"/>
                </a:solidFill>
              </a:rPr>
              <a:t>true and Pseudo statements</a:t>
            </a:r>
            <a:r>
              <a:rPr lang="en-US" sz="4000" dirty="0">
                <a:solidFill>
                  <a:srgbClr val="00B050"/>
                </a:solidFill>
              </a:rPr>
              <a:t> </a:t>
            </a:r>
            <a:r>
              <a:rPr lang="en-US" sz="4000" dirty="0"/>
              <a:t>(i.e., meaningful and meaningless statements). </a:t>
            </a:r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18544537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CDECEC-9518-4EEF-B9EC-49A6328E9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87229"/>
            <a:ext cx="10515600" cy="65560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AF3F29-F366-4355-ADFC-9ACDB39CF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69" y="318977"/>
            <a:ext cx="11408735" cy="6262576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4000" dirty="0" smtClean="0"/>
              <a:t>He </a:t>
            </a:r>
            <a:r>
              <a:rPr lang="en-US" sz="4000" dirty="0"/>
              <a:t>argues that philosophy can be entirely independent of metaphysics and that the verifiability principle is the </a:t>
            </a:r>
            <a:r>
              <a:rPr lang="en-US" sz="4000" u="sng" dirty="0"/>
              <a:t>criterion for testing the genuineness of meaningful statements of fact</a:t>
            </a:r>
            <a:r>
              <a:rPr lang="en-US" sz="4000" dirty="0"/>
              <a:t>. </a:t>
            </a:r>
            <a:endParaRPr lang="en-US" sz="4000" dirty="0" smtClean="0"/>
          </a:p>
          <a:p>
            <a:pPr algn="just">
              <a:buFont typeface="Wingdings" pitchFamily="2" charset="2"/>
              <a:buChar char="§"/>
            </a:pPr>
            <a:r>
              <a:rPr lang="en-US" sz="4000" dirty="0" smtClean="0"/>
              <a:t>So</a:t>
            </a:r>
            <a:r>
              <a:rPr lang="en-US" sz="4000" dirty="0"/>
              <a:t>, the verifiability principle helps us </a:t>
            </a:r>
            <a:r>
              <a:rPr lang="en-US" sz="4000" dirty="0">
                <a:solidFill>
                  <a:srgbClr val="00B050"/>
                </a:solidFill>
              </a:rPr>
              <a:t>classify a statement as meaningful  (like empirical statements) or meaningless (metaphysical </a:t>
            </a:r>
            <a:r>
              <a:rPr lang="en-US" sz="4000" dirty="0" smtClean="0">
                <a:solidFill>
                  <a:srgbClr val="00B050"/>
                </a:solidFill>
              </a:rPr>
              <a:t>statement). </a:t>
            </a:r>
          </a:p>
          <a:p>
            <a:pPr algn="just">
              <a:buFont typeface="Wingdings" pitchFamily="2" charset="2"/>
              <a:buChar char="§"/>
            </a:pPr>
            <a:r>
              <a:rPr lang="en-US" sz="4000" dirty="0" smtClean="0"/>
              <a:t>Meaningful </a:t>
            </a:r>
            <a:r>
              <a:rPr lang="en-US" sz="4000" dirty="0"/>
              <a:t>statements (protocol statements) are </a:t>
            </a:r>
            <a:r>
              <a:rPr lang="en-US" sz="4000" b="1" dirty="0"/>
              <a:t>primitive</a:t>
            </a:r>
            <a:r>
              <a:rPr lang="en-US" sz="4000" dirty="0"/>
              <a:t> since they report immediate observations that do not justify other elementary statements.</a:t>
            </a:r>
          </a:p>
          <a:p>
            <a:pPr marL="0" indent="0" algn="just">
              <a:buNone/>
            </a:pPr>
            <a:endParaRPr lang="en-US" sz="3900" dirty="0"/>
          </a:p>
        </p:txBody>
      </p:sp>
    </p:spTree>
    <p:extLst>
      <p:ext uri="{BB962C8B-B14F-4D97-AF65-F5344CB8AC3E}">
        <p14:creationId xmlns:p14="http://schemas.microsoft.com/office/powerpoint/2010/main" val="8595943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CDECEC-9518-4EEF-B9EC-49A6328E9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87229"/>
            <a:ext cx="10515600" cy="65560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AF3F29-F366-4355-ADFC-9ACDB39CF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69" y="318977"/>
            <a:ext cx="11408735" cy="6262576"/>
          </a:xfrm>
        </p:spPr>
        <p:txBody>
          <a:bodyPr>
            <a:noAutofit/>
          </a:bodyPr>
          <a:lstStyle/>
          <a:p>
            <a:pPr algn="just">
              <a:lnSpc>
                <a:spcPct val="8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3800" b="1" dirty="0" smtClean="0">
                <a:solidFill>
                  <a:srgbClr val="FF0000"/>
                </a:solidFill>
              </a:rPr>
              <a:t>Alfred Ayer </a:t>
            </a:r>
            <a:r>
              <a:rPr lang="en-US" sz="3800" dirty="0" smtClean="0"/>
              <a:t>notes </a:t>
            </a:r>
            <a:r>
              <a:rPr lang="en-US" sz="3800" dirty="0"/>
              <a:t>in his work entitled </a:t>
            </a:r>
            <a:r>
              <a:rPr lang="en-US" sz="3800" i="1" dirty="0"/>
              <a:t>Language, Truth, and Logic</a:t>
            </a:r>
            <a:r>
              <a:rPr lang="en-US" sz="3800" dirty="0"/>
              <a:t> that his views were derived from the doctrines of Russell and Wittgenstein and that of philosophers of the Vienna Circle. </a:t>
            </a:r>
            <a:endParaRPr lang="en-US" sz="3800" dirty="0" smtClean="0"/>
          </a:p>
          <a:p>
            <a:pPr algn="just">
              <a:lnSpc>
                <a:spcPct val="8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3800" dirty="0" smtClean="0"/>
              <a:t>He </a:t>
            </a:r>
            <a:r>
              <a:rPr lang="en-US" sz="3800" dirty="0"/>
              <a:t>emphasized that </a:t>
            </a:r>
            <a:r>
              <a:rPr lang="en-US" sz="3800" u="sng" dirty="0"/>
              <a:t>philosophy </a:t>
            </a:r>
            <a:r>
              <a:rPr lang="en-US" sz="3800" u="sng" dirty="0" smtClean="0"/>
              <a:t>should provide </a:t>
            </a:r>
            <a:r>
              <a:rPr lang="en-US" sz="3800" u="sng" dirty="0"/>
              <a:t>knowledge of a reality that transcends the world of science and common sense</a:t>
            </a:r>
            <a:r>
              <a:rPr lang="en-US" sz="3800" dirty="0"/>
              <a:t> since some of our (moral) utterances are purely psychological (non-cognitive). </a:t>
            </a:r>
            <a:endParaRPr lang="en-US" sz="3800" dirty="0" smtClean="0"/>
          </a:p>
          <a:p>
            <a:pPr algn="just">
              <a:lnSpc>
                <a:spcPct val="8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3800" dirty="0" smtClean="0"/>
              <a:t>They </a:t>
            </a:r>
            <a:r>
              <a:rPr lang="en-US" sz="3800" dirty="0"/>
              <a:t>(i.e., moral utterances) express and arouse emotions, not beliefs. </a:t>
            </a:r>
            <a:endParaRPr lang="en-US" sz="3800" dirty="0" smtClean="0"/>
          </a:p>
          <a:p>
            <a:pPr algn="just">
              <a:lnSpc>
                <a:spcPct val="8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3800" dirty="0" smtClean="0"/>
              <a:t>So</a:t>
            </a:r>
            <a:r>
              <a:rPr lang="en-US" sz="3800" dirty="0"/>
              <a:t>, expressing them is like saying, “‘Boo on x!” (Huemer 2005: 225), where x represents the action that an agent disapproves of.</a:t>
            </a:r>
          </a:p>
        </p:txBody>
      </p:sp>
    </p:spTree>
    <p:extLst>
      <p:ext uri="{BB962C8B-B14F-4D97-AF65-F5344CB8AC3E}">
        <p14:creationId xmlns:p14="http://schemas.microsoft.com/office/powerpoint/2010/main" val="21146659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CDECEC-9518-4EEF-B9EC-49A6328E9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87229"/>
            <a:ext cx="10515600" cy="65560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AF3F29-F366-4355-ADFC-9ACDB39CF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69" y="318977"/>
            <a:ext cx="11408735" cy="6262576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sz="4000" dirty="0"/>
              <a:t>The </a:t>
            </a:r>
            <a:r>
              <a:rPr lang="en-US" sz="4000" dirty="0" smtClean="0"/>
              <a:t>exclamation-mark</a:t>
            </a:r>
            <a:r>
              <a:rPr lang="en-US" sz="4000" dirty="0"/>
              <a:t>, Ayer argues, “adds nothing to the literal meaning of the sentence. </a:t>
            </a:r>
            <a:endParaRPr lang="en-US" sz="4000" dirty="0" smtClean="0"/>
          </a:p>
          <a:p>
            <a:pPr algn="just">
              <a:spcBef>
                <a:spcPts val="0"/>
              </a:spcBef>
            </a:pPr>
            <a:r>
              <a:rPr lang="en-US" sz="4000" dirty="0" smtClean="0"/>
              <a:t>It </a:t>
            </a:r>
            <a:r>
              <a:rPr lang="en-US" sz="4000" dirty="0"/>
              <a:t>merely serves to show that the expression of it is attended by certain feelings in the speaker” (Ayer 1936: 107). </a:t>
            </a:r>
            <a:endParaRPr lang="en-US" sz="4000" dirty="0" smtClean="0"/>
          </a:p>
          <a:p>
            <a:pPr algn="just">
              <a:spcBef>
                <a:spcPts val="0"/>
              </a:spcBef>
            </a:pPr>
            <a:r>
              <a:rPr lang="en-US" sz="4000" dirty="0" smtClean="0"/>
              <a:t>Hence</a:t>
            </a:r>
            <a:r>
              <a:rPr lang="en-US" sz="4000" dirty="0"/>
              <a:t>, to say that “it is morally wrong to torture innocent people” is the same as saying “Boo on torturing innocent people.” </a:t>
            </a:r>
            <a:endParaRPr lang="en-US" sz="4000" dirty="0" smtClean="0"/>
          </a:p>
          <a:p>
            <a:pPr algn="just">
              <a:spcBef>
                <a:spcPts val="0"/>
              </a:spcBef>
            </a:pPr>
            <a:r>
              <a:rPr lang="en-US" sz="4000" u="sng" dirty="0" smtClean="0"/>
              <a:t>Such </a:t>
            </a:r>
            <a:r>
              <a:rPr lang="en-US" sz="4000" u="sng" dirty="0"/>
              <a:t>moral judgment merely expresses an agent’s sentiment of disapproval of the act of torturing innocent people</a:t>
            </a:r>
            <a:r>
              <a:rPr lang="en-US" sz="4000" dirty="0"/>
              <a:t>. </a:t>
            </a:r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18414037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CDECEC-9518-4EEF-B9EC-49A6328E9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87229"/>
            <a:ext cx="10515600" cy="65560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AF3F29-F366-4355-ADFC-9ACDB39CF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69" y="318977"/>
            <a:ext cx="11408735" cy="6262576"/>
          </a:xfrm>
        </p:spPr>
        <p:txBody>
          <a:bodyPr>
            <a:noAutofit/>
          </a:bodyPr>
          <a:lstStyle/>
          <a:p>
            <a:pPr algn="just"/>
            <a:r>
              <a:rPr lang="en-US" sz="4400" dirty="0"/>
              <a:t>Given the latter, this question arises: is an agent’s sentiment of disapproval over </a:t>
            </a:r>
            <a:r>
              <a:rPr lang="en-US" sz="4400" dirty="0" smtClean="0"/>
              <a:t>an </a:t>
            </a:r>
            <a:r>
              <a:rPr lang="en-US" sz="4400" dirty="0"/>
              <a:t>act of torture equivalent to his judgment that “it is morally wrong to torture innocent people”? </a:t>
            </a:r>
          </a:p>
          <a:p>
            <a:pPr algn="just"/>
            <a:r>
              <a:rPr lang="en-US" sz="4400" dirty="0"/>
              <a:t>This question made the emotivists grapple with what is known as the “</a:t>
            </a:r>
            <a:r>
              <a:rPr lang="en-US" sz="4400" dirty="0" err="1"/>
              <a:t>Frege-Geach</a:t>
            </a:r>
            <a:r>
              <a:rPr lang="en-US" sz="4400" dirty="0"/>
              <a:t> Problem” (Huemer 2005: 34). </a:t>
            </a:r>
          </a:p>
          <a:p>
            <a:pPr algn="just"/>
            <a:r>
              <a:rPr lang="en-US" sz="4400" dirty="0"/>
              <a:t>Ayer also criticized metaphysical utterances, which he underlines from logical errors.  </a:t>
            </a:r>
            <a:endParaRPr lang="en-US" sz="4400" dirty="0" smtClean="0"/>
          </a:p>
        </p:txBody>
      </p:sp>
    </p:spTree>
    <p:extLst>
      <p:ext uri="{BB962C8B-B14F-4D97-AF65-F5344CB8AC3E}">
        <p14:creationId xmlns:p14="http://schemas.microsoft.com/office/powerpoint/2010/main" val="13809626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CDECEC-9518-4EEF-B9EC-49A6328E9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87229"/>
            <a:ext cx="10515600" cy="65560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AF3F29-F366-4355-ADFC-9ACDB39CF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69" y="318977"/>
            <a:ext cx="11408735" cy="6262576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7000" b="1" dirty="0"/>
              <a:t>Evaluation</a:t>
            </a:r>
            <a:endParaRPr lang="en-US" sz="7000" dirty="0"/>
          </a:p>
          <a:p>
            <a:pPr algn="just"/>
            <a:r>
              <a:rPr lang="en-US" sz="4600" dirty="0"/>
              <a:t>One of the major criticisms of this theory is that the Verifiability principle </a:t>
            </a:r>
            <a:r>
              <a:rPr lang="en-US" sz="4600" u="sng" dirty="0"/>
              <a:t>cannot be verified</a:t>
            </a:r>
            <a:r>
              <a:rPr lang="en-US" sz="4600" dirty="0"/>
              <a:t>. </a:t>
            </a:r>
            <a:endParaRPr lang="en-US" sz="4600" dirty="0" smtClean="0"/>
          </a:p>
          <a:p>
            <a:pPr algn="just"/>
            <a:r>
              <a:rPr lang="en-US" sz="4600" dirty="0" smtClean="0"/>
              <a:t>Moreover</a:t>
            </a:r>
            <a:r>
              <a:rPr lang="en-US" sz="4600" dirty="0"/>
              <a:t>, there are </a:t>
            </a:r>
            <a:r>
              <a:rPr lang="en-US" sz="4600" u="sng" dirty="0"/>
              <a:t>a lot of metaphysical thoughts in their stances</a:t>
            </a:r>
            <a:r>
              <a:rPr lang="en-US" sz="4600" dirty="0"/>
              <a:t> which undermines their objective to rid philosophy of all metaphysical jargon. </a:t>
            </a:r>
            <a:endParaRPr lang="en-US" sz="4600" dirty="0" smtClean="0"/>
          </a:p>
          <a:p>
            <a:pPr algn="just"/>
            <a:r>
              <a:rPr lang="en-US" sz="4600" u="sng" dirty="0" smtClean="0"/>
              <a:t>Inherent </a:t>
            </a:r>
            <a:r>
              <a:rPr lang="en-US" sz="4600" u="sng" dirty="0"/>
              <a:t>in their standpoint is the difficulty of understanding some of their views and the problem of reductionism </a:t>
            </a:r>
            <a:r>
              <a:rPr lang="en-US" sz="4600" dirty="0"/>
              <a:t>(i.e., reducing the criterion of meaning and understanding to the verifiability principle). </a:t>
            </a:r>
            <a:endParaRPr lang="en-US" sz="4600" dirty="0" smtClean="0"/>
          </a:p>
          <a:p>
            <a:pPr algn="just"/>
            <a:r>
              <a:rPr lang="en-US" sz="4600" dirty="0" smtClean="0"/>
              <a:t>Again </a:t>
            </a:r>
            <a:r>
              <a:rPr lang="en-US" sz="4600" u="sng" dirty="0"/>
              <a:t>the scope of the verifiability is delimited to the present</a:t>
            </a:r>
            <a:r>
              <a:rPr lang="en-US" sz="4600" dirty="0"/>
              <a:t> since it cannot account for the future. </a:t>
            </a:r>
            <a:endParaRPr lang="en-US" sz="4600" dirty="0" smtClean="0"/>
          </a:p>
          <a:p>
            <a:pPr algn="just"/>
            <a:r>
              <a:rPr lang="en-US" sz="4600" dirty="0" smtClean="0"/>
              <a:t>For </a:t>
            </a:r>
            <a:r>
              <a:rPr lang="en-US" sz="4600" dirty="0"/>
              <a:t>instance, the proposition that </a:t>
            </a:r>
            <a:r>
              <a:rPr lang="en-US" sz="4600" dirty="0" smtClean="0"/>
              <a:t>“all </a:t>
            </a:r>
            <a:r>
              <a:rPr lang="en-US" sz="4600" dirty="0"/>
              <a:t>men are mortal” may be true as of now, but it may be that on </a:t>
            </a:r>
            <a:r>
              <a:rPr lang="en-US" sz="4600" dirty="0" smtClean="0"/>
              <a:t>1</a:t>
            </a:r>
            <a:r>
              <a:rPr lang="en-US" sz="4600" baseline="30000" dirty="0" smtClean="0"/>
              <a:t>st</a:t>
            </a:r>
            <a:r>
              <a:rPr lang="en-US" sz="4600" dirty="0" smtClean="0"/>
              <a:t> January 2024 (</a:t>
            </a:r>
            <a:r>
              <a:rPr lang="en-US" sz="4600" i="1" dirty="0" smtClean="0">
                <a:solidFill>
                  <a:srgbClr val="FF0000"/>
                </a:solidFill>
              </a:rPr>
              <a:t>t</a:t>
            </a:r>
            <a:r>
              <a:rPr lang="en-US" sz="4600" dirty="0" smtClean="0"/>
              <a:t>), </a:t>
            </a:r>
            <a:r>
              <a:rPr lang="en-US" sz="4600" dirty="0"/>
              <a:t>an immortal man will be born. </a:t>
            </a:r>
            <a:endParaRPr lang="en-US" sz="4600" dirty="0" smtClean="0"/>
          </a:p>
          <a:p>
            <a:pPr algn="just"/>
            <a:r>
              <a:rPr lang="en-US" sz="4600" dirty="0" smtClean="0"/>
              <a:t>That </a:t>
            </a:r>
            <a:r>
              <a:rPr lang="en-US" sz="4600" dirty="0"/>
              <a:t>is to say, the verifiability of the proposition “All men are mortal” in fact amounts to “all men born before the time </a:t>
            </a:r>
            <a:r>
              <a:rPr lang="en-US" sz="4600" i="1" dirty="0"/>
              <a:t>t</a:t>
            </a:r>
            <a:r>
              <a:rPr lang="en-US" sz="4600" dirty="0"/>
              <a:t> are mortal but not after that</a:t>
            </a:r>
            <a:r>
              <a:rPr lang="en-US" sz="4000" dirty="0"/>
              <a:t>.”</a:t>
            </a:r>
          </a:p>
          <a:p>
            <a:pPr marL="0" indent="0" algn="just">
              <a:buNone/>
            </a:pPr>
            <a:endParaRPr lang="en-US" sz="3900" dirty="0"/>
          </a:p>
        </p:txBody>
      </p:sp>
    </p:spTree>
    <p:extLst>
      <p:ext uri="{BB962C8B-B14F-4D97-AF65-F5344CB8AC3E}">
        <p14:creationId xmlns:p14="http://schemas.microsoft.com/office/powerpoint/2010/main" val="13604584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CDECEC-9518-4EEF-B9EC-49A6328E9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87229"/>
            <a:ext cx="10515600" cy="65560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AF3F29-F366-4355-ADFC-9ACDB39CF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69" y="318977"/>
            <a:ext cx="11408735" cy="6262576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z="4000" b="1" dirty="0"/>
              <a:t>Summary</a:t>
            </a:r>
            <a:endParaRPr lang="en-US" sz="4000" dirty="0"/>
          </a:p>
          <a:p>
            <a:pPr algn="just"/>
            <a:r>
              <a:rPr lang="en-US" sz="4000" dirty="0"/>
              <a:t>The logical positivist aimed to eliminate all metaphysical and abstract sentences they consider meaningless. </a:t>
            </a:r>
            <a:endParaRPr lang="en-US" sz="4000" dirty="0" smtClean="0"/>
          </a:p>
          <a:p>
            <a:pPr algn="just"/>
            <a:r>
              <a:rPr lang="en-US" sz="4000" dirty="0" smtClean="0"/>
              <a:t>Secondly</a:t>
            </a:r>
            <a:r>
              <a:rPr lang="en-US" sz="4000" dirty="0"/>
              <a:t>, the proponents of this theory and method confine knowledge in philosophy to factual assertions and show that the empirical methods of science can decide it. </a:t>
            </a:r>
            <a:endParaRPr lang="en-US" sz="4000" dirty="0" smtClean="0"/>
          </a:p>
          <a:p>
            <a:pPr algn="just"/>
            <a:r>
              <a:rPr lang="en-US" sz="4000" dirty="0" smtClean="0"/>
              <a:t>The </a:t>
            </a:r>
            <a:r>
              <a:rPr lang="en-US" sz="4000" dirty="0"/>
              <a:t>distinctiveness of this phase lies in its attention to mathematics and logic and its emphasis on linguistic aspects of traditional philosophical problems.</a:t>
            </a:r>
          </a:p>
        </p:txBody>
      </p:sp>
    </p:spTree>
    <p:extLst>
      <p:ext uri="{BB962C8B-B14F-4D97-AF65-F5344CB8AC3E}">
        <p14:creationId xmlns:p14="http://schemas.microsoft.com/office/powerpoint/2010/main" val="26377100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Microsoft Office PowerPoint</Application>
  <PresentationFormat>Widescreen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POINTS TO NOTE</dc:title>
  <dc:creator>Liberatus Isife</dc:creator>
  <cp:lastModifiedBy>HP fc0906ng</cp:lastModifiedBy>
  <cp:revision>283</cp:revision>
  <cp:lastPrinted>2023-10-11T06:31:56Z</cp:lastPrinted>
  <dcterms:created xsi:type="dcterms:W3CDTF">2021-12-06T23:32:59Z</dcterms:created>
  <dcterms:modified xsi:type="dcterms:W3CDTF">2024-12-12T08:31:51Z</dcterms:modified>
</cp:coreProperties>
</file>